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7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8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B8A56-2A22-4489-AC5D-5ED44F43CCF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247CC-27AF-4B6A-9060-63F0AD8F8FE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1F4D-9A06-41FD-9592-15639BF737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2026/2/5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10509112" y="5241510"/>
            <a:ext cx="1682888" cy="1616490"/>
          </a:xfrm>
          <a:custGeom>
            <a:avLst/>
            <a:gdLst>
              <a:gd name="connsiteX0" fmla="*/ 1365956 w 1682888"/>
              <a:gd name="connsiteY0" fmla="*/ 0 h 1616490"/>
              <a:gd name="connsiteX1" fmla="*/ 1641244 w 1682888"/>
              <a:gd name="connsiteY1" fmla="*/ 27752 h 1616490"/>
              <a:gd name="connsiteX2" fmla="*/ 1682888 w 1682888"/>
              <a:gd name="connsiteY2" fmla="*/ 38459 h 1616490"/>
              <a:gd name="connsiteX3" fmla="*/ 1682888 w 1682888"/>
              <a:gd name="connsiteY3" fmla="*/ 1616490 h 1616490"/>
              <a:gd name="connsiteX4" fmla="*/ 23974 w 1682888"/>
              <a:gd name="connsiteY4" fmla="*/ 1616490 h 1616490"/>
              <a:gd name="connsiteX5" fmla="*/ 7052 w 1682888"/>
              <a:gd name="connsiteY5" fmla="*/ 1505617 h 1616490"/>
              <a:gd name="connsiteX6" fmla="*/ 0 w 1682888"/>
              <a:gd name="connsiteY6" fmla="*/ 1365956 h 1616490"/>
              <a:gd name="connsiteX7" fmla="*/ 1365956 w 1682888"/>
              <a:gd name="connsiteY7" fmla="*/ 0 h 1616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2888" h="1616490">
                <a:moveTo>
                  <a:pt x="1365956" y="0"/>
                </a:moveTo>
                <a:cubicBezTo>
                  <a:pt x="1460256" y="0"/>
                  <a:pt x="1552323" y="9556"/>
                  <a:pt x="1641244" y="27752"/>
                </a:cubicBezTo>
                <a:lnTo>
                  <a:pt x="1682888" y="38459"/>
                </a:lnTo>
                <a:lnTo>
                  <a:pt x="1682888" y="1616490"/>
                </a:lnTo>
                <a:lnTo>
                  <a:pt x="23974" y="1616490"/>
                </a:lnTo>
                <a:lnTo>
                  <a:pt x="7052" y="1505617"/>
                </a:lnTo>
                <a:cubicBezTo>
                  <a:pt x="2389" y="1459698"/>
                  <a:pt x="0" y="1413106"/>
                  <a:pt x="0" y="1365956"/>
                </a:cubicBezTo>
                <a:cubicBezTo>
                  <a:pt x="0" y="611559"/>
                  <a:pt x="611559" y="0"/>
                  <a:pt x="13659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2592" y="2021531"/>
            <a:ext cx="1538883" cy="281493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8800" b="1" dirty="0"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0" name="椭圆 9"/>
          <p:cNvSpPr/>
          <p:nvPr/>
        </p:nvSpPr>
        <p:spPr>
          <a:xfrm>
            <a:off x="9536450" y="581795"/>
            <a:ext cx="537138" cy="5371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>
            <a:off x="10201245" y="0"/>
            <a:ext cx="1975360" cy="850364"/>
          </a:xfrm>
          <a:custGeom>
            <a:avLst/>
            <a:gdLst>
              <a:gd name="connsiteX0" fmla="*/ 0 w 1975360"/>
              <a:gd name="connsiteY0" fmla="*/ 0 h 850364"/>
              <a:gd name="connsiteX1" fmla="*/ 1975360 w 1975360"/>
              <a:gd name="connsiteY1" fmla="*/ 0 h 850364"/>
              <a:gd name="connsiteX2" fmla="*/ 1970376 w 1975360"/>
              <a:gd name="connsiteY2" fmla="*/ 49444 h 850364"/>
              <a:gd name="connsiteX3" fmla="*/ 987680 w 1975360"/>
              <a:gd name="connsiteY3" fmla="*/ 850364 h 850364"/>
              <a:gd name="connsiteX4" fmla="*/ 4984 w 1975360"/>
              <a:gd name="connsiteY4" fmla="*/ 49444 h 85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5360" h="850364">
                <a:moveTo>
                  <a:pt x="0" y="0"/>
                </a:moveTo>
                <a:lnTo>
                  <a:pt x="1975360" y="0"/>
                </a:lnTo>
                <a:lnTo>
                  <a:pt x="1970376" y="49444"/>
                </a:lnTo>
                <a:cubicBezTo>
                  <a:pt x="1876843" y="506528"/>
                  <a:pt x="1472415" y="850364"/>
                  <a:pt x="987680" y="850364"/>
                </a:cubicBezTo>
                <a:cubicBezTo>
                  <a:pt x="502945" y="850364"/>
                  <a:pt x="98517" y="506528"/>
                  <a:pt x="4984" y="494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3808431" y="2319131"/>
            <a:ext cx="3113268" cy="7471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5" name="矩形: 圆角 34"/>
          <p:cNvSpPr/>
          <p:nvPr/>
        </p:nvSpPr>
        <p:spPr>
          <a:xfrm>
            <a:off x="3760508" y="2374844"/>
            <a:ext cx="789527" cy="635675"/>
          </a:xfrm>
          <a:prstGeom prst="roundRect">
            <a:avLst>
              <a:gd name="adj" fmla="val 14857"/>
            </a:avLst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zh-CN" altLang="en-US" sz="4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69569" y="2509328"/>
            <a:ext cx="213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吊耳</a:t>
            </a:r>
          </a:p>
        </p:txBody>
      </p:sp>
      <p:sp>
        <p:nvSpPr>
          <p:cNvPr id="52" name="矩形: 圆角 51"/>
          <p:cNvSpPr/>
          <p:nvPr/>
        </p:nvSpPr>
        <p:spPr>
          <a:xfrm>
            <a:off x="7638310" y="2319131"/>
            <a:ext cx="3113268" cy="7471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3" name="矩形: 圆角 52"/>
          <p:cNvSpPr/>
          <p:nvPr/>
        </p:nvSpPr>
        <p:spPr>
          <a:xfrm>
            <a:off x="7590387" y="2374844"/>
            <a:ext cx="789527" cy="635675"/>
          </a:xfrm>
          <a:prstGeom prst="roundRect">
            <a:avLst>
              <a:gd name="adj" fmla="val 14857"/>
            </a:avLst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499448" y="2509328"/>
            <a:ext cx="213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铝型材</a:t>
            </a:r>
          </a:p>
        </p:txBody>
      </p:sp>
      <p:sp>
        <p:nvSpPr>
          <p:cNvPr id="56" name="矩形: 圆角 55"/>
          <p:cNvSpPr/>
          <p:nvPr/>
        </p:nvSpPr>
        <p:spPr>
          <a:xfrm>
            <a:off x="3808431" y="3911047"/>
            <a:ext cx="3113268" cy="7471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7" name="矩形: 圆角 56"/>
          <p:cNvSpPr/>
          <p:nvPr/>
        </p:nvSpPr>
        <p:spPr>
          <a:xfrm>
            <a:off x="3760508" y="3966760"/>
            <a:ext cx="789527" cy="635675"/>
          </a:xfrm>
          <a:prstGeom prst="roundRect">
            <a:avLst>
              <a:gd name="adj" fmla="val 14857"/>
            </a:avLst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zh-CN" altLang="en-US" sz="4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669569" y="4084543"/>
            <a:ext cx="213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装配设计</a:t>
            </a:r>
          </a:p>
        </p:txBody>
      </p:sp>
      <p:sp>
        <p:nvSpPr>
          <p:cNvPr id="60" name="矩形: 圆角 59"/>
          <p:cNvSpPr/>
          <p:nvPr/>
        </p:nvSpPr>
        <p:spPr>
          <a:xfrm>
            <a:off x="7638310" y="3911047"/>
            <a:ext cx="3113268" cy="7471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61" name="矩形: 圆角 60"/>
          <p:cNvSpPr/>
          <p:nvPr/>
        </p:nvSpPr>
        <p:spPr>
          <a:xfrm>
            <a:off x="7590387" y="3966760"/>
            <a:ext cx="789527" cy="635675"/>
          </a:xfrm>
          <a:prstGeom prst="roundRect">
            <a:avLst>
              <a:gd name="adj" fmla="val 14857"/>
            </a:avLst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04</a:t>
            </a:r>
            <a:endParaRPr lang="zh-CN" altLang="en-US" sz="4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499448" y="4084543"/>
            <a:ext cx="213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63" name="矩形 62"/>
          <p:cNvSpPr/>
          <p:nvPr/>
        </p:nvSpPr>
        <p:spPr>
          <a:xfrm>
            <a:off x="-1" y="0"/>
            <a:ext cx="49250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dist="50800" dir="5400000" sx="101000" sy="101000" algn="ctr" rotWithShape="0">
              <a:srgbClr val="2056FF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021870" y="1942784"/>
            <a:ext cx="157492" cy="2943026"/>
            <a:chOff x="2903337" y="1942784"/>
            <a:chExt cx="157492" cy="2943026"/>
          </a:xfrm>
        </p:grpSpPr>
        <p:cxnSp>
          <p:nvCxnSpPr>
            <p:cNvPr id="37" name="直接连接符 36"/>
            <p:cNvCxnSpPr/>
            <p:nvPr/>
          </p:nvCxnSpPr>
          <p:spPr>
            <a:xfrm>
              <a:off x="2982083" y="2171265"/>
              <a:ext cx="0" cy="2502717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 rot="18900000">
              <a:off x="2903337" y="1942784"/>
              <a:ext cx="157492" cy="15749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>
              <a:off x="2903337" y="4728318"/>
              <a:ext cx="157492" cy="15749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rot="18900000">
              <a:off x="2903337" y="2048617"/>
              <a:ext cx="157492" cy="1574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 rot="18900000">
              <a:off x="2903337" y="4597093"/>
              <a:ext cx="157492" cy="1574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吊耳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吊耳（</a:t>
            </a:r>
            <a:r>
              <a:rPr lang="en-US" altLang="zh-CN" dirty="0"/>
              <a:t>Lug</a:t>
            </a:r>
            <a:r>
              <a:rPr lang="zh-CN" altLang="en-US" dirty="0"/>
              <a:t>）是车架中的关键</a:t>
            </a:r>
            <a:r>
              <a:rPr lang="zh-CN" altLang="en-US" dirty="0">
                <a:highlight>
                  <a:srgbClr val="FFFF00"/>
                </a:highlight>
              </a:rPr>
              <a:t>连接结构</a:t>
            </a:r>
            <a:r>
              <a:rPr lang="zh-CN" altLang="en-US" dirty="0"/>
              <a:t>，主要用于连接悬架、动力系统、座舱安全带等部件。合理的吊耳设计能确保车辆结构强度、刚度和可维护性。</a:t>
            </a:r>
          </a:p>
          <a:p>
            <a:r>
              <a:rPr lang="zh-CN" altLang="en-US" dirty="0"/>
              <a:t>车队规则：凡是焊在车上的吊耳全部交由车架组设计，其余吊耳各组负责。</a:t>
            </a:r>
          </a:p>
          <a:p>
            <a:pPr marL="0" indent="0">
              <a:buNone/>
            </a:pPr>
            <a:r>
              <a:rPr lang="zh-CN" altLang="en-US" dirty="0"/>
              <a:t>目的：避免在后续的设计报告产生交叉混乱，分不清吊耳归哪组管。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60" y="3654425"/>
            <a:ext cx="5365115" cy="24511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吊耳类型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单片式：固定防火墙，底板</a:t>
            </a:r>
          </a:p>
          <a:p>
            <a:r>
              <a:rPr lang="zh-CN" altLang="en-US" dirty="0"/>
              <a:t>双片式：悬架，，发动机，传动</a:t>
            </a:r>
          </a:p>
          <a:p>
            <a:r>
              <a:rPr lang="zh-CN" altLang="en-US" dirty="0"/>
              <a:t>螺栓连接式：发动机</a:t>
            </a:r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还有我们车上的例子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085" y="2253615"/>
            <a:ext cx="4226560" cy="3232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315" y="4413885"/>
            <a:ext cx="2464435" cy="2171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9855" y="3666490"/>
            <a:ext cx="2524125" cy="29184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注意事项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830" y="1581150"/>
            <a:ext cx="10968990" cy="7696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8795" y="2481580"/>
            <a:ext cx="110337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孔中心到边缘的距离必须至少是孔直径的</a:t>
            </a:r>
            <a:r>
              <a:rPr lang="en-US" altLang="zh-CN"/>
              <a:t> 1.5 </a:t>
            </a:r>
            <a:r>
              <a:rPr lang="zh-CN" altLang="en-US"/>
              <a:t>倍</a:t>
            </a:r>
          </a:p>
          <a:p>
            <a:endParaRPr lang="zh-CN" altLang="en-US"/>
          </a:p>
          <a:p>
            <a:r>
              <a:rPr lang="zh-CN" altLang="en-US"/>
              <a:t>直观理解：想象你在一张纸上打孔，如果孔离边缘太近，纸很容易撕裂。同理，在车架结构中，螺栓孔如果离边缘太近，可能会导致材料局部开裂或撕裂。</a:t>
            </a:r>
          </a:p>
          <a:p>
            <a:endParaRPr lang="zh-CN" altLang="en-US"/>
          </a:p>
          <a:p>
            <a:r>
              <a:rPr lang="zh-CN" altLang="en-US"/>
              <a:t>举例：螺栓孔直径</a:t>
            </a:r>
            <a:r>
              <a:rPr lang="en-US" altLang="zh-CN"/>
              <a:t> D = 10mm</a:t>
            </a:r>
            <a:endParaRPr lang="zh-CN" altLang="en-US"/>
          </a:p>
          <a:p>
            <a:r>
              <a:rPr lang="en-US" altLang="zh-CN"/>
              <a:t>e ≥ 1.5</a:t>
            </a:r>
            <a:r>
              <a:rPr lang="en-US" altLang="en-US"/>
              <a:t>×</a:t>
            </a:r>
            <a:r>
              <a:rPr lang="en-US" altLang="zh-CN"/>
              <a:t>10mm =15mm</a:t>
            </a:r>
          </a:p>
          <a:p>
            <a:r>
              <a:rPr lang="zh-CN" altLang="en-US"/>
              <a:t>也就是说，孔中心到边缘的最小距离必须是</a:t>
            </a:r>
            <a:r>
              <a:rPr lang="en-US" altLang="zh-CN"/>
              <a:t> 15mm</a:t>
            </a:r>
            <a:r>
              <a:rPr lang="zh-CN" altLang="en-US"/>
              <a:t>，否则强度可能不足。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铝型材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常见规格</a:t>
            </a:r>
          </a:p>
          <a:p>
            <a:pPr marL="0" indent="0">
              <a:buNone/>
            </a:pPr>
            <a:r>
              <a:rPr lang="en-US" altLang="zh-CN" dirty="0"/>
              <a:t>2020 </a:t>
            </a:r>
            <a:r>
              <a:rPr lang="zh-CN" altLang="en-US" dirty="0"/>
              <a:t>铝型材（</a:t>
            </a:r>
            <a:r>
              <a:rPr lang="en-US" altLang="zh-CN" dirty="0"/>
              <a:t>20mm </a:t>
            </a:r>
            <a:r>
              <a:rPr lang="en-US" altLang="en-US" dirty="0"/>
              <a:t>×</a:t>
            </a:r>
            <a:r>
              <a:rPr lang="en-US" altLang="zh-CN" dirty="0"/>
              <a:t> 20mm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3030 </a:t>
            </a:r>
            <a:r>
              <a:rPr lang="zh-CN" altLang="en-US" dirty="0"/>
              <a:t>铝型材（</a:t>
            </a:r>
            <a:r>
              <a:rPr lang="en-US" altLang="zh-CN" dirty="0"/>
              <a:t>30mm </a:t>
            </a:r>
            <a:r>
              <a:rPr lang="en-US" altLang="en-US" dirty="0"/>
              <a:t>×</a:t>
            </a:r>
            <a:r>
              <a:rPr lang="en-US" altLang="zh-CN" dirty="0"/>
              <a:t> 30mm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4040 </a:t>
            </a:r>
            <a:r>
              <a:rPr lang="zh-CN" altLang="en-US" dirty="0"/>
              <a:t>铝型材（</a:t>
            </a:r>
            <a:r>
              <a:rPr lang="en-US" altLang="zh-CN" dirty="0"/>
              <a:t>40mm </a:t>
            </a:r>
            <a:r>
              <a:rPr lang="en-US" altLang="en-US" dirty="0"/>
              <a:t>×</a:t>
            </a:r>
            <a:r>
              <a:rPr lang="en-US" altLang="zh-CN" dirty="0"/>
              <a:t> 40mm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连接件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6" y="4655253"/>
            <a:ext cx="1775785" cy="1424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034" y="4655253"/>
            <a:ext cx="2085668" cy="1435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993" y="4655253"/>
            <a:ext cx="2514600" cy="1200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6925" y="1490400"/>
            <a:ext cx="2558368" cy="201770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6859" y="1490400"/>
            <a:ext cx="2448232" cy="201809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装配约束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介绍相合约束，其他常用约束命令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889" y="1138500"/>
            <a:ext cx="2638425" cy="4229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047" y="3069801"/>
            <a:ext cx="3637112" cy="22977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、绘制</a:t>
            </a:r>
            <a:r>
              <a:rPr lang="en-US" altLang="zh-CN" dirty="0"/>
              <a:t>2</a:t>
            </a:r>
            <a:r>
              <a:rPr lang="zh-CN" altLang="en-US" dirty="0"/>
              <a:t>个吊耳的模型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、用铝型材组建小框（使用</a:t>
            </a:r>
            <a:r>
              <a:rPr lang="en-US" altLang="zh-CN" dirty="0" err="1"/>
              <a:t>catia</a:t>
            </a:r>
            <a:r>
              <a:rPr lang="zh-CN" altLang="en-US" dirty="0"/>
              <a:t>装配设计模块）（使用</a:t>
            </a:r>
            <a:r>
              <a:rPr lang="en-US" altLang="zh-CN" dirty="0"/>
              <a:t>3030</a:t>
            </a:r>
            <a:r>
              <a:rPr lang="zh-CN" altLang="en-US" dirty="0"/>
              <a:t>铝型材，草图截面尺寸上网搜索）（不需要画连接件）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吊耳要求：尺寸不限制，合理即可</a:t>
            </a:r>
          </a:p>
          <a:p>
            <a:r>
              <a:rPr lang="zh-CN" altLang="en-US" dirty="0"/>
              <a:t>铝型材框：尺寸不限制，和图里相似即可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0190" y="3583305"/>
            <a:ext cx="4674235" cy="27082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" y="361315"/>
            <a:ext cx="4674235" cy="2919095"/>
          </a:xfrm>
          <a:prstGeom prst="rect">
            <a:avLst/>
          </a:prstGeom>
        </p:spPr>
      </p:pic>
      <p:pic>
        <p:nvPicPr>
          <p:cNvPr id="8" name="图片 7" descr="1942d9b4faed1ac7fa8fa1fbc3bb9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710" y="1717040"/>
            <a:ext cx="5523865" cy="29794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319</Words>
  <Application>Microsoft Office PowerPoint</Application>
  <PresentationFormat>宽屏</PresentationFormat>
  <Paragraphs>45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Arial</vt:lpstr>
      <vt:lpstr>Wingdings</vt:lpstr>
      <vt:lpstr>WPS</vt:lpstr>
      <vt:lpstr>PowerPoint 演示文稿</vt:lpstr>
      <vt:lpstr>吊耳</vt:lpstr>
      <vt:lpstr>吊耳类型</vt:lpstr>
      <vt:lpstr>注意事项</vt:lpstr>
      <vt:lpstr>铝型材</vt:lpstr>
      <vt:lpstr>装配约束</vt:lpstr>
      <vt:lpstr>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860263286@qq.com</cp:lastModifiedBy>
  <cp:revision>164</cp:revision>
  <dcterms:created xsi:type="dcterms:W3CDTF">2019-06-19T02:08:00Z</dcterms:created>
  <dcterms:modified xsi:type="dcterms:W3CDTF">2026-02-05T05:46:54Z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46FC4FE259EA497D938A4B8EF06F7019_12</vt:lpwstr>
  </property>
</Properties>
</file>